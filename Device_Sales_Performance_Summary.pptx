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Device Sales &amp; Logistics Performance</a:t>
            </a:r>
          </a:p>
          <a:p>
            <a:pPr>
              <a:spcAft>
                <a:spcPts val="4000"/>
              </a:spcAft>
              <a:defRPr sz="1800">
                <a:solidFill>
                  <a:srgbClr val="606F7D"/>
                </a:solidFill>
                <a:latin typeface="Segoe UI"/>
              </a:defRPr>
            </a:pPr>
            <a:r>
              <a:t>Interactive Dashboard Summary &amp; Strategic Insights (2023 – 2025)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Prepared for: Business Stakeholders &amp; Management Executives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6F7D"/>
                </a:solidFill>
                <a:latin typeface="Segoe UI"/>
              </a:defRPr>
            </a:pPr>
            <a:r>
              <a:t>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Segoe UI"/>
              </a:defRPr>
            </a:pPr>
            <a:r>
              <a:t>Executive Summary &amp; Core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28416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1">
                <a:solidFill>
                  <a:srgbClr val="0A192F"/>
                </a:solidFill>
                <a:latin typeface="Segoe UI"/>
              </a:defRPr>
            </a:pPr>
            <a:r>
              <a:t>$28.28B</a:t>
            </a:r>
          </a:p>
          <a:p>
            <a:pPr>
              <a:spcAft>
                <a:spcPts val="800"/>
              </a:spcAft>
              <a:defRPr sz="1300" b="1">
                <a:solidFill>
                  <a:srgbClr val="1D3557"/>
                </a:solidFill>
                <a:latin typeface="Segoe UI"/>
              </a:defRPr>
            </a:pPr>
            <a:r>
              <a:t>Total Revenue</a:t>
            </a:r>
          </a:p>
          <a:p>
            <a:pPr>
              <a:defRPr sz="1000">
                <a:solidFill>
                  <a:srgbClr val="606F7D"/>
                </a:solidFill>
                <a:latin typeface="Segoe UI"/>
              </a:defRPr>
            </a:pPr>
            <a:r>
              <a:t>Gross sales across hardware catalog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4425696" y="1645920"/>
            <a:ext cx="3328416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1">
                <a:solidFill>
                  <a:srgbClr val="0A192F"/>
                </a:solidFill>
                <a:latin typeface="Segoe UI"/>
              </a:defRPr>
            </a:pPr>
            <a:r>
              <a:t>275.69K</a:t>
            </a:r>
          </a:p>
          <a:p>
            <a:pPr>
              <a:spcAft>
                <a:spcPts val="800"/>
              </a:spcAft>
              <a:defRPr sz="1300" b="1">
                <a:solidFill>
                  <a:srgbClr val="1D3557"/>
                </a:solidFill>
                <a:latin typeface="Segoe UI"/>
              </a:defRPr>
            </a:pPr>
            <a:r>
              <a:t>Total Units Sold</a:t>
            </a:r>
          </a:p>
          <a:p>
            <a:pPr>
              <a:defRPr sz="1000">
                <a:solidFill>
                  <a:srgbClr val="606F7D"/>
                </a:solidFill>
                <a:latin typeface="Segoe UI"/>
              </a:defRPr>
            </a:pPr>
            <a:r>
              <a:t>Inventory volume cleared from stock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119872" y="1645920"/>
            <a:ext cx="3328416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/>
          <a:lstStyle/>
          <a:p>
            <a:pPr algn="ctr">
              <a:defRPr sz="3600" b="1">
                <a:solidFill>
                  <a:srgbClr val="0A192F"/>
                </a:solidFill>
                <a:latin typeface="Segoe UI"/>
              </a:defRPr>
            </a:pPr>
            <a:r>
              <a:t>$565.58K</a:t>
            </a:r>
          </a:p>
          <a:p>
            <a:pPr>
              <a:spcAft>
                <a:spcPts val="800"/>
              </a:spcAft>
              <a:defRPr sz="1300" b="1">
                <a:solidFill>
                  <a:srgbClr val="1D3557"/>
                </a:solidFill>
                <a:latin typeface="Segoe UI"/>
              </a:defRPr>
            </a:pPr>
            <a:r>
              <a:t>Avg Order Value (AOV)</a:t>
            </a:r>
          </a:p>
          <a:p>
            <a:pPr>
              <a:defRPr sz="1000">
                <a:solidFill>
                  <a:srgbClr val="606F7D"/>
                </a:solidFill>
                <a:latin typeface="Segoe UI"/>
              </a:defRPr>
            </a:pPr>
            <a:r>
              <a:t>Average gross value per transaction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Segoe UI"/>
              </a:defRPr>
            </a:pPr>
            <a:r>
              <a:t>• High-Velocity Commercial Engine: Sustained robust pipelines processing 50,000 unique invoices across a multi-year baseline.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Segoe UI"/>
              </a:defRPr>
            </a:pPr>
            <a:r>
              <a:t>• Supply Chain Standard: Orders reflect a normalized fulfillment lifecycle averaging 30.6 days from inward logging to final dispatch.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Segoe UI"/>
              </a:defRPr>
            </a:pPr>
            <a:r>
              <a:t>• Capital Optimization: Maximum turnaround latency strictly hits a ceiling of 60 days, ensuring consistent warehouse rotation.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6F7D"/>
                </a:solidFill>
                <a:latin typeface="Segoe UI"/>
              </a:defRPr>
            </a:pPr>
            <a:r>
              <a:t>PRODUCT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Segoe UI"/>
              </a:defRPr>
            </a:pPr>
            <a:r>
              <a:t>Portfolio Mix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0"/>
              </a:spcAft>
              <a:defRPr sz="1800" b="1">
                <a:solidFill>
                  <a:srgbClr val="0A192F"/>
                </a:solidFill>
              </a:defRPr>
            </a:pPr>
            <a:r>
              <a:t>Category Breakdown</a:t>
            </a:r>
          </a:p>
          <a:p>
            <a:pPr>
              <a:defRPr sz="1500" b="1">
                <a:solidFill>
                  <a:srgbClr val="1D3557"/>
                </a:solidFill>
              </a:defRPr>
            </a:pPr>
            <a:r>
              <a:t>Laptops: $14.19B (50.17% Share)</a:t>
            </a:r>
          </a:p>
          <a:p>
            <a:pPr>
              <a:spcAft>
                <a:spcPts val="1600"/>
              </a:spcAft>
              <a:defRPr sz="1100">
                <a:solidFill>
                  <a:srgbClr val="606F7D"/>
                </a:solidFill>
              </a:defRPr>
            </a:pPr>
            <a:r>
              <a:t>138,019 units shifted</a:t>
            </a:r>
          </a:p>
          <a:p>
            <a:pPr>
              <a:defRPr sz="1500" b="1">
                <a:solidFill>
                  <a:srgbClr val="1D3557"/>
                </a:solidFill>
              </a:defRPr>
            </a:pPr>
            <a:r>
              <a:t>Mobile Phones: $14.09B (49.83% Share)</a:t>
            </a:r>
          </a:p>
          <a:p>
            <a:pPr>
              <a:spcAft>
                <a:spcPts val="1600"/>
              </a:spcAft>
              <a:defRPr sz="1100">
                <a:solidFill>
                  <a:srgbClr val="606F7D"/>
                </a:solidFill>
              </a:defRPr>
            </a:pPr>
            <a:r>
              <a:t>137,670 units shifted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42255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600"/>
              </a:spcAft>
              <a:defRPr sz="1800" b="1">
                <a:solidFill>
                  <a:srgbClr val="0A192F"/>
                </a:solidFill>
              </a:defRPr>
            </a:pPr>
            <a:r>
              <a:t>Strategic Takeaways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Perfect Portfolio Balance: Revenue is split nearly exactly 50/50, displaying remarkable portfolio diversification and zero exposure to isolated product segment volatility.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Equivalent Value Distribution: Average unit pricing tracks closely across both hardware families (~$102.7k for Laptops vs. ~$102.5k for Mobile Phones), indicating a shared configuration tier profile.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6F7D"/>
                </a:solidFill>
                <a:latin typeface="Segoe UI"/>
              </a:defRPr>
            </a:pPr>
            <a:r>
              <a:t>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Segoe UI"/>
              </a:defRPr>
            </a:pPr>
            <a:r>
              <a:t>Geographic and Regional Distribution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Market Rank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$5.86B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1 (Market Leader)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$5.62B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$5.61B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Central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$5.60B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$5.59B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040880" y="1645920"/>
            <a:ext cx="4419295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600"/>
              </a:spcAft>
              <a:defRPr sz="1800" b="1">
                <a:solidFill>
                  <a:srgbClr val="0A192F"/>
                </a:solidFill>
              </a:defRPr>
            </a:pPr>
            <a:r>
              <a:t>Regional Context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Homogeneous National Demand: Market performance is exceptionally uniform. The gap between the leading region (West) and trailing region (East) is less than 5%.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Scalable Marketing Playbooks: Since demand distribution shows geometric stability, standardized corporate promotional campaigns can be pushed nationwide without heavy regional tailoring.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6F7D"/>
                </a:solidFill>
                <a:latin typeface="Segoe UI"/>
              </a:defRPr>
            </a:pPr>
            <a:r>
              <a:t>MARKET SHARE &amp; BRANDS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Segoe UI"/>
              </a:defRPr>
            </a:pPr>
            <a:r>
              <a:t>Brand Competitive Landscape (Top Market Drivers)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956816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600"/>
              </a:spcAft>
              <a:defRPr sz="2000" b="1">
                <a:solidFill>
                  <a:srgbClr val="0A192F"/>
                </a:solidFill>
              </a:defRPr>
            </a:pPr>
            <a:r>
              <a:t>Google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D3557"/>
                </a:solidFill>
              </a:defRPr>
            </a:pPr>
            <a:r>
              <a:t>$1.51B</a:t>
            </a:r>
          </a:p>
          <a:p>
            <a:pPr algn="ctr">
              <a:defRPr sz="1100">
                <a:solidFill>
                  <a:srgbClr val="606F7D"/>
                </a:solidFill>
              </a:defRPr>
            </a:pPr>
            <a:r>
              <a:t>#1 Leader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916936" y="1645920"/>
            <a:ext cx="1956816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600"/>
              </a:spcAft>
              <a:defRPr sz="2000" b="1">
                <a:solidFill>
                  <a:srgbClr val="0A192F"/>
                </a:solidFill>
              </a:defRPr>
            </a:pPr>
            <a:r>
              <a:t>Nokia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D3557"/>
                </a:solidFill>
              </a:defRPr>
            </a:pPr>
            <a:r>
              <a:t>$1.47B</a:t>
            </a:r>
          </a:p>
          <a:p>
            <a:pPr algn="ctr">
              <a:defRPr sz="1100">
                <a:solidFill>
                  <a:srgbClr val="606F7D"/>
                </a:solidFill>
              </a:defRPr>
            </a:pPr>
            <a:r>
              <a:t>#2 Follower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2352" y="1645920"/>
            <a:ext cx="1956816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600"/>
              </a:spcAft>
              <a:defRPr sz="2000" b="1">
                <a:solidFill>
                  <a:srgbClr val="0A192F"/>
                </a:solidFill>
              </a:defRPr>
            </a:pPr>
            <a:r>
              <a:t>Apple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D3557"/>
                </a:solidFill>
              </a:defRPr>
            </a:pPr>
            <a:r>
              <a:t>$1.47B</a:t>
            </a:r>
          </a:p>
          <a:p>
            <a:pPr algn="ctr">
              <a:defRPr sz="1100">
                <a:solidFill>
                  <a:srgbClr val="606F7D"/>
                </a:solidFill>
              </a:defRPr>
            </a:pPr>
            <a:r>
              <a:t>#3 Challenger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287768" y="1645920"/>
            <a:ext cx="1956816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600"/>
              </a:spcAft>
              <a:defRPr sz="2000" b="1">
                <a:solidFill>
                  <a:srgbClr val="0A192F"/>
                </a:solidFill>
              </a:defRPr>
            </a:pPr>
            <a:r>
              <a:t>Toshiba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D3557"/>
                </a:solidFill>
              </a:defRPr>
            </a:pPr>
            <a:r>
              <a:t>$1.45B</a:t>
            </a:r>
          </a:p>
          <a:p>
            <a:pPr algn="ctr">
              <a:defRPr sz="1100">
                <a:solidFill>
                  <a:srgbClr val="606F7D"/>
                </a:solidFill>
              </a:defRPr>
            </a:pPr>
            <a:r>
              <a:t>#4 Strategic</a:t>
            </a:r>
          </a:p>
        </p:txBody>
      </p:sp>
      <p:sp>
        <p:nvSpPr>
          <p:cNvPr id="8" name="Rectangle 7"/>
          <p:cNvSpPr/>
          <p:nvPr/>
        </p:nvSpPr>
        <p:spPr>
          <a:xfrm>
            <a:off x="9473184" y="1645920"/>
            <a:ext cx="1956816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600"/>
              </a:spcAft>
              <a:defRPr sz="2000" b="1">
                <a:solidFill>
                  <a:srgbClr val="0A192F"/>
                </a:solidFill>
              </a:defRPr>
            </a:pPr>
            <a:r>
              <a:t>Sony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D3557"/>
                </a:solidFill>
              </a:defRPr>
            </a:pPr>
            <a:r>
              <a:t>$1.44B</a:t>
            </a:r>
          </a:p>
          <a:p>
            <a:pPr algn="ctr">
              <a:defRPr sz="1100">
                <a:solidFill>
                  <a:srgbClr val="606F7D"/>
                </a:solidFill>
              </a:defRPr>
            </a:pPr>
            <a:r>
              <a:t>#5 Established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212529"/>
                </a:solidFill>
              </a:defRPr>
            </a:pPr>
            <a:r>
              <a:t>• Fragmented Competitive Landscape: No single manufacturing partner commands a monopoly stake over the pipeline. Revenue distribution across the top 10 labels remains perfectly shared.</a:t>
            </a:r>
          </a:p>
          <a:p>
            <a:pPr>
              <a:spcAft>
                <a:spcPts val="1200"/>
              </a:spcAft>
              <a:defRPr sz="1350">
                <a:solidFill>
                  <a:srgbClr val="212529"/>
                </a:solidFill>
              </a:defRPr>
            </a:pPr>
            <a:r>
              <a:t>• Balanced SKU Allocation: Granular Power BI filter insights confirm that top original equipment manufacturers (OEMs) like Google and Apple maintain uniform inventory supply flows across both device forms.</a:t>
            </a:r>
          </a:p>
          <a:p>
            <a:pPr>
              <a:spcAft>
                <a:spcPts val="1200"/>
              </a:spcAft>
              <a:defRPr sz="1350">
                <a:solidFill>
                  <a:srgbClr val="212529"/>
                </a:solidFill>
              </a:defRPr>
            </a:pPr>
            <a:r>
              <a:t>• De-risked Procurement: Multi-brand positioning ensures that a supply bottleneck within a single vendor's network will not critically threaten total enterprise bottom-line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6F7D"/>
                </a:solidFill>
                <a:latin typeface="Segoe UI"/>
              </a:defRPr>
            </a:pPr>
            <a:r>
              <a:t>STRATEGIC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2F"/>
                </a:solidFill>
                <a:latin typeface="Segoe UI"/>
              </a:defRPr>
            </a:pPr>
            <a:r>
              <a:t>Operational Recommendations &amp;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600"/>
              </a:spcAft>
              <a:defRPr sz="1800" b="1">
                <a:solidFill>
                  <a:srgbClr val="0A192F"/>
                </a:solidFill>
              </a:defRPr>
            </a:pPr>
            <a:r>
              <a:t>Interactive Dashboard Guide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► Cross-Filtering: Select individual regions inside the 'Region Slicer' to watch the Brand Leaderboard update instantly to local demand.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► Timeline Drilling: Drag the custom date range slicer on Page 1 to track revenue stability over specific quarters.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► Top-N Focus: Use the Visual Filters pane on the Stacked Column Chart to toggle views between top-performing and trailing brands.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42255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600"/>
              </a:spcAft>
              <a:defRPr sz="1800" b="1">
                <a:solidFill>
                  <a:srgbClr val="0A192F"/>
                </a:solidFill>
              </a:defRPr>
            </a:pPr>
            <a:r>
              <a:t>Strategic Next Steps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✔ Fulfillment Efficiency: Investigate warehouse workflows to reduce the 30.6-day average fulfillment turnaround to unlock extra capital velocity.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✔ Targeted Margin Bundles: Capitalize on top market standing in the West region ($5.86B) to trial high-margin premium hardware bundles.</a:t>
            </a:r>
          </a:p>
          <a:p>
            <a:pPr>
              <a:spcAft>
                <a:spcPts val="1200"/>
              </a:spcAft>
              <a:defRPr sz="1200">
                <a:solidFill>
                  <a:srgbClr val="212529"/>
                </a:solidFill>
              </a:defRPr>
            </a:pPr>
            <a:r>
              <a:t>✔ Unbiased Shipping Controls: Maintain unified warehouse handling structures, since data proves premium items clear channels as quickly as budget units.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